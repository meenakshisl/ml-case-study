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5" Type="http://schemas.openxmlformats.org/officeDocument/2006/relationships/viewProps" Target="viewProps.xml" /><Relationship Id="rId3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7" Type="http://schemas.openxmlformats.org/officeDocument/2006/relationships/tableStyles" Target="tableStyles.xml" /><Relationship Id="rId3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arxiv.org/pdf/2301.01044" TargetMode="Externa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rxiv.org/abs/1803.09010" TargetMode="External" /><Relationship Id="rId3" Type="http://schemas.openxmlformats.org/officeDocument/2006/relationships/hyperlink" Target="https://arxiv.org/abs/1911.00068" TargetMode="External" /><Relationship Id="rId4" Type="http://schemas.openxmlformats.org/officeDocument/2006/relationships/hyperlink" Target="https://arxiv.org/abs/1703.04730" TargetMode="External" /><Relationship Id="rId5" Type="http://schemas.openxmlformats.org/officeDocument/2006/relationships/hyperlink" Target="https://arxiv.org/abs/1805.07836" TargetMode="External" /><Relationship Id="rId6" Type="http://schemas.openxmlformats.org/officeDocument/2006/relationships/hyperlink" Target="https://arxiv.org/abs/1706.03691" TargetMode="External" /><Relationship Id="rId7" Type="http://schemas.openxmlformats.org/officeDocument/2006/relationships/hyperlink" Target="https://arxiv.org/abs/1804.06872" TargetMode="External" /><Relationship Id="rId8" Type="http://schemas.openxmlformats.org/officeDocument/2006/relationships/hyperlink" Target="https://arxiv.org/abs/1609.03731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Label-Flip Poisoning Attack on Malware Detection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Label-Flip Poisoning Attack on ML-based Malware Detectors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Your Name, Affiliation</a:t>
            </a:r>
          </a:p>
          <a:p>
            <a:pPr lvl="0"/>
            <a:r>
              <a:rPr/>
              <a:t>Based on: Aryal et al., “Analysis of Label-Flip Poisoning Attack on Machine Learning Based Malware Detector”</a:t>
            </a:r>
          </a:p>
          <a:p>
            <a:pPr lvl="0"/>
            <a:r>
              <a:rPr/>
              <a:t>Paper: http://arxiv.org/pdf/2301.01044</a:t>
            </a:r>
          </a:p>
          <a:p>
            <a:pPr lvl="0"/>
            <a:r>
              <a:rPr/>
              <a:t>Dataset: https://www.kaggle.com/competitions/malware-detection/data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Data poisoning vs. evasion</a:t>
            </a:r>
            <a:r>
              <a:rPr/>
              <a:t>: training-time manipulation vs. test-time perturbation</a:t>
            </a:r>
          </a:p>
          <a:p>
            <a:pPr lvl="0"/>
            <a:r>
              <a:rPr b="1"/>
              <a:t>Why malware detection is exposed</a:t>
            </a:r>
            <a:r>
              <a:rPr/>
              <a:t>:</a:t>
            </a:r>
          </a:p>
          <a:p>
            <a:pPr lvl="1"/>
            <a:r>
              <a:rPr/>
              <a:t>Crowdsourced submissions, federated/online learning, open pipelines</a:t>
            </a:r>
          </a:p>
          <a:p>
            <a:pPr lvl="1"/>
            <a:r>
              <a:rPr/>
              <a:t>Hard to verify all labels/data at scale</a:t>
            </a:r>
          </a:p>
          <a:p>
            <a:pPr lvl="0"/>
            <a:r>
              <a:rPr b="1"/>
              <a:t>Threat</a:t>
            </a:r>
            <a:r>
              <a:rPr/>
              <a:t>: Even simple label flips can degrade detectors meaningfully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Evaluate robustness of classic ML malware detectors under </a:t>
            </a:r>
            <a:r>
              <a:rPr b="1"/>
              <a:t>label-flip poisoning</a:t>
            </a:r>
          </a:p>
          <a:p>
            <a:pPr lvl="0"/>
            <a:r>
              <a:rPr/>
              <a:t>Flip a fraction of training labels (10% and 20%), keep test set clean</a:t>
            </a:r>
          </a:p>
          <a:p>
            <a:pPr lvl="0"/>
            <a:r>
              <a:rPr/>
              <a:t>Compare performance across 8 models:</a:t>
            </a:r>
          </a:p>
          <a:p>
            <a:pPr lvl="1"/>
            <a:r>
              <a:rPr/>
              <a:t>SGD, RandomForest, LogisticRegression, KNN, LinearSVM, DecisionTree, Perceptron, MLP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Methodology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Dataset</a:t>
            </a:r>
            <a:r>
              <a:rPr/>
              <a:t>: Kaggle “Malware detection” (tabular)</a:t>
            </a:r>
          </a:p>
          <a:p>
            <a:pPr lvl="0"/>
            <a:r>
              <a:rPr b="1"/>
              <a:t>Preprocessing</a:t>
            </a:r>
            <a:r>
              <a:rPr/>
              <a:t>:</a:t>
            </a:r>
          </a:p>
          <a:p>
            <a:pPr lvl="1"/>
            <a:r>
              <a:rPr/>
              <a:t>Stratified sampling to ~10k rows (runtime)</a:t>
            </a:r>
          </a:p>
          <a:p>
            <a:pPr lvl="1"/>
            <a:r>
              <a:rPr/>
              <a:t>Numeric features imputed (median) and scaled for linear/NN/KNN models</a:t>
            </a:r>
          </a:p>
          <a:p>
            <a:pPr lvl="1"/>
            <a:r>
              <a:rPr/>
              <a:t>Trees/RandomForest use imputation only</a:t>
            </a:r>
          </a:p>
          <a:p>
            <a:pPr lvl="0"/>
            <a:r>
              <a:rPr b="1"/>
              <a:t>Split</a:t>
            </a:r>
            <a:r>
              <a:rPr/>
              <a:t>: Stratified train/test (80/20), seed=42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Methodology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Attack</a:t>
            </a:r>
            <a:r>
              <a:rPr/>
              <a:t>: Randomly flip y for 10% and 20% of training samples</a:t>
            </a:r>
          </a:p>
          <a:p>
            <a:pPr lvl="0"/>
            <a:r>
              <a:rPr b="1"/>
              <a:t>Evaluation</a:t>
            </a:r>
            <a:r>
              <a:rPr/>
              <a:t>:</a:t>
            </a:r>
          </a:p>
          <a:p>
            <a:pPr lvl="1"/>
            <a:r>
              <a:rPr/>
              <a:t>Metrics: Accuracy, Precision, Recall</a:t>
            </a:r>
          </a:p>
          <a:p>
            <a:pPr lvl="1"/>
            <a:r>
              <a:rPr/>
              <a:t>Confusion matrices for selected models</a:t>
            </a:r>
          </a:p>
          <a:p>
            <a:pPr lvl="0"/>
            <a:r>
              <a:rPr b="1"/>
              <a:t>Control</a:t>
            </a:r>
            <a:r>
              <a:rPr/>
              <a:t>: Identical split across baseline and poisoned runs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 and Discussion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Findings reported by Aryal et al. (10% label flips, Testing set): http://arxiv.org/pdf/2301.01044</a:t>
            </a:r>
          </a:p>
          <a:p>
            <a:pPr lvl="0"/>
            <a:r>
              <a:rPr/>
              <a:t>Percent change vs. clean (negative = drop, positive = improvement):</a:t>
            </a:r>
          </a:p>
          <a:p>
            <a:pPr lvl="1"/>
            <a:r>
              <a:rPr/>
              <a:t>Stochastic Gradient Descent: Acc −0.8%, Rec −22.1%, F1 −6.6%</a:t>
            </a:r>
          </a:p>
          <a:p>
            <a:pPr lvl="1"/>
            <a:r>
              <a:rPr/>
              <a:t>Decision Tree: Acc −13.0%, Rec −26.5%, F1 −19.8%</a:t>
            </a:r>
          </a:p>
          <a:p>
            <a:pPr lvl="1"/>
            <a:r>
              <a:rPr/>
              <a:t>Random Forest: Acc −4.2%, Rec +11.3%, F1 −0.4%</a:t>
            </a:r>
          </a:p>
          <a:p>
            <a:pPr lvl="1"/>
            <a:r>
              <a:rPr/>
              <a:t>Logistic Regression: Acc −9.8%, Rec −14.6%, F1 −13.4%</a:t>
            </a:r>
          </a:p>
          <a:p>
            <a:pPr lvl="1"/>
            <a:r>
              <a:rPr/>
              <a:t>KNN Classifier: Acc −11.1%, Rec −15.7%, F1 −14.7%</a:t>
            </a:r>
          </a:p>
          <a:p>
            <a:pPr lvl="1"/>
            <a:r>
              <a:rPr/>
              <a:t>Support Vector Machine: Acc −27.5%, Rec −63.7%, F1 −52.8%</a:t>
            </a:r>
          </a:p>
          <a:p>
            <a:pPr lvl="1"/>
            <a:r>
              <a:rPr/>
              <a:t>Perceptron: Acc −46.7%, Rec −64.7% (F1 not legible in table crop)</a:t>
            </a:r>
          </a:p>
          <a:p>
            <a:pPr lvl="1"/>
            <a:r>
              <a:rPr/>
              <a:t>Multi‑Layer Perceptron: Acc +15.8%, Rec −8.9%, F1 +15.5%</a:t>
            </a:r>
          </a:p>
          <a:p>
            <a:pPr lvl="0"/>
            <a:r>
              <a:rPr/>
              <a:t>Macro (across 8 models): Accuracy ≈ −12.1%, Recall ≈ −25.6%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 and Discussion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Error patterns (per paper):</a:t>
            </a:r>
          </a:p>
          <a:p>
            <a:pPr lvl="1"/>
            <a:r>
              <a:rPr b="1"/>
              <a:t>Recall drops</a:t>
            </a:r>
            <a:r>
              <a:rPr/>
              <a:t> under poisoning (more false negatives / missed malware)</a:t>
            </a:r>
          </a:p>
          <a:p>
            <a:pPr lvl="1"/>
            <a:r>
              <a:rPr/>
              <a:t>Linear models show stronger boundary shifts; tree ensembles more resilient but still degrade at higher flip rates</a:t>
            </a:r>
          </a:p>
          <a:p>
            <a:pPr lvl="0"/>
            <a:r>
              <a:rPr/>
              <a:t>Practical takeaway:</a:t>
            </a:r>
          </a:p>
          <a:p>
            <a:pPr lvl="1"/>
            <a:r>
              <a:rPr/>
              <a:t>Label integrity in training pipelines is critical; even random flips materially impact reliability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Conclusion</a:t>
            </a:r>
            <a:r>
              <a:rPr/>
              <a:t>:</a:t>
            </a:r>
          </a:p>
          <a:p>
            <a:pPr lvl="1"/>
            <a:r>
              <a:rPr/>
              <a:t>Simple label-flip poisoning degrades malware detectors; impact varies by model</a:t>
            </a:r>
          </a:p>
          <a:p>
            <a:pPr lvl="1"/>
            <a:r>
              <a:rPr/>
              <a:t>Highlights the need for data/label integrity checks in pipelines</a:t>
            </a:r>
          </a:p>
          <a:p>
            <a:pPr lvl="0"/>
            <a:r>
              <a:rPr b="1"/>
              <a:t>Future Work</a:t>
            </a:r>
            <a:r>
              <a:rPr/>
              <a:t>:</a:t>
            </a:r>
          </a:p>
          <a:p>
            <a:pPr lvl="1"/>
            <a:r>
              <a:rPr/>
              <a:t>Targeted clean-label poisoning; backdoors</a:t>
            </a:r>
          </a:p>
          <a:p>
            <a:pPr lvl="1"/>
            <a:r>
              <a:rPr/>
              <a:t>Robust training and label sanitization</a:t>
            </a:r>
          </a:p>
          <a:p>
            <a:pPr lvl="1"/>
            <a:r>
              <a:rPr/>
              <a:t>Federated learning defenses and audits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Aryal et al., “Analysis of Label-Flip Poisoning Attack on Machine Learning Based Malware Detector” — http://arxiv.org/pdf/2301.01044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Kaggle “Malware detection” — https://www.kaggle.com/competitions/malware-detection/data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Implementation and Reproduction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CLI (precomputed):</a:t>
            </a:r>
          </a:p>
          <a:p>
            <a:pPr lvl="0" indent="0">
              <a:buNone/>
            </a:pPr>
            <a:r>
              <a:rPr>
                <a:latin typeface="Courier"/>
              </a:rPr>
              <a:t>python ML-case-study/run_experiments.py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--input-csv</a:t>
            </a:r>
            <a:r>
              <a:rPr>
                <a:latin typeface="Courier"/>
              </a:rPr>
              <a:t> ML-case-study/Kaggle-data.csv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--label-col</a:t>
            </a:r>
            <a:r>
              <a:rPr>
                <a:latin typeface="Courier"/>
              </a:rPr>
              <a:t> legitimate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--sample-size</a:t>
            </a:r>
            <a:r>
              <a:rPr>
                <a:latin typeface="Courier"/>
              </a:rPr>
              <a:t> 10000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--test-size</a:t>
            </a:r>
            <a:r>
              <a:rPr>
                <a:latin typeface="Courier"/>
              </a:rPr>
              <a:t> 0.2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--flip-fracs</a:t>
            </a:r>
            <a:r>
              <a:rPr>
                <a:latin typeface="Courier"/>
              </a:rPr>
              <a:t> 0.0 0.1 0.2 0.3 0.4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--seed</a:t>
            </a:r>
            <a:r>
              <a:rPr>
                <a:latin typeface="Courier"/>
              </a:rPr>
              <a:t> 42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--output-dir</a:t>
            </a:r>
            <a:r>
              <a:rPr>
                <a:latin typeface="Courier"/>
              </a:rPr>
              <a:t> ML-case-study/outputs</a:t>
            </a:r>
          </a:p>
          <a:p>
            <a:pPr lvl="0"/>
            <a:r>
              <a:rPr/>
              <a:t>Artifacts produced:</a:t>
            </a:r>
          </a:p>
          <a:p>
            <a:pPr lvl="1"/>
            <a:r>
              <a:rPr>
                <a:latin typeface="Courier"/>
              </a:rPr>
              <a:t>ML-case-study/outputs/results.csv</a:t>
            </a:r>
          </a:p>
          <a:p>
            <a:pPr lvl="1"/>
            <a:r>
              <a:rPr>
                <a:latin typeface="Courier"/>
              </a:rPr>
              <a:t>ML-case-study/outputs/metrics_barplot.png</a:t>
            </a:r>
          </a:p>
          <a:p>
            <a:pPr lvl="1"/>
            <a:r>
              <a:rPr>
                <a:latin typeface="Courier"/>
              </a:rPr>
              <a:t>ML-case-study/outputs/cm_LogisticRegression_04.png</a:t>
            </a:r>
          </a:p>
          <a:p>
            <a:pPr lvl="1"/>
            <a:r>
              <a:rPr>
                <a:latin typeface="Courier"/>
              </a:rPr>
              <a:t>ML-case-study/outputs/cm_RandomForest_04.png</a:t>
            </a:r>
          </a:p>
          <a:p>
            <a:pPr lvl="1"/>
            <a:r>
              <a:rPr>
                <a:latin typeface="Courier"/>
              </a:rPr>
              <a:t>ML-case-study/outputs/cm_MLP_04.png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 (Accuracy vs Flip Fraction)</a:t>
            </a:r>
          </a:p>
        </p:txBody>
      </p:sp>
      <p:pic>
        <p:nvPicPr>
          <p:cNvPr descr="../outputs/metrics_bar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89100" y="1193800"/>
            <a:ext cx="576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Barplot: Accuracy by model and flip fraction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Error Analysis @ flip = 0.4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Malware missed (false negatives) increase with higher flip rates.</a:t>
            </a:r>
          </a:p>
        </p:txBody>
      </p:sp>
      <p:pic>
        <p:nvPicPr>
          <p:cNvPr descr="../outputs/cm_LogisticRegression_0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7000" y="203200"/>
            <a:ext cx="43561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Logistic Regression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Random Forest MLP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Evidence (trimmed)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utils.py</a:t>
            </a:r>
            <a:r>
              <a:rPr/>
              <a:t> — label flipping and experiment loop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flip_labels(y: np.ndarray, flip_fraction: </a:t>
            </a:r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, rng_seed: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flip_fraction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y.copy(), np.array([], dtype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rng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np.random.default_rng(rng_seed)</a:t>
            </a:r>
            <a:br/>
            <a:r>
              <a:rPr>
                <a:latin typeface="Courier"/>
              </a:rPr>
              <a:t>    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(y)</a:t>
            </a:r>
            <a:br/>
            <a:r>
              <a:rPr>
                <a:latin typeface="Courier"/>
              </a:rPr>
              <a:t>    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(flip_fraction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n)</a:t>
            </a:r>
            <a:br/>
            <a:r>
              <a:rPr>
                <a:latin typeface="Courier"/>
              </a:rPr>
              <a:t>    idx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rng.choice(n, 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k, replace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y_poison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y.copy()</a:t>
            </a:r>
            <a:br/>
            <a:r>
              <a:rPr>
                <a:latin typeface="Courier"/>
              </a:rPr>
              <a:t>    y_poison[idx]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y_poison[idx]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y_poison, idx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run_experiment(X_train, y_train, X_test, y_test, pipelines, flip_fracs, seed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42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rows, cms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[], {}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frac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flip_fracs:</a:t>
            </a:r>
            <a:br/>
            <a:r>
              <a:rPr>
                <a:latin typeface="Courier"/>
              </a:rPr>
              <a:t>        y_train_poison, _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flip_labels(y_train, flip_fraction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frac, rng_seed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seed)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name, pipe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pipelines.items():</a:t>
            </a:r>
            <a:br/>
            <a:r>
              <a:rPr>
                <a:latin typeface="Courier"/>
              </a:rPr>
              <a:t>            metrics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train_and_eval(pipe, X_train, y_train_poison, X_test, y_test)</a:t>
            </a:r>
            <a:br/>
            <a:r>
              <a:rPr>
                <a:latin typeface="Courier"/>
              </a:rPr>
              <a:t>            cm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metrics.pop(</a:t>
            </a:r>
            <a:r>
              <a:rPr>
                <a:solidFill>
                  <a:srgbClr val="4070A0"/>
                </a:solidFill>
                <a:latin typeface="Courier"/>
              </a:rPr>
              <a:t>"cm"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    rows.append({</a:t>
            </a:r>
            <a:r>
              <a:rPr>
                <a:solidFill>
                  <a:srgbClr val="4070A0"/>
                </a:solidFill>
                <a:latin typeface="Courier"/>
              </a:rPr>
              <a:t>"model"</a:t>
            </a:r>
            <a:r>
              <a:rPr>
                <a:latin typeface="Courier"/>
              </a:rPr>
              <a:t>: name, </a:t>
            </a:r>
            <a:r>
              <a:rPr>
                <a:solidFill>
                  <a:srgbClr val="4070A0"/>
                </a:solidFill>
                <a:latin typeface="Courier"/>
              </a:rPr>
              <a:t>"flip_frac"</a:t>
            </a:r>
            <a:r>
              <a:rPr>
                <a:latin typeface="Courier"/>
              </a:rPr>
              <a:t>: frac,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metrics})</a:t>
            </a:r>
            <a:br/>
            <a:r>
              <a:rPr>
                <a:latin typeface="Courier"/>
              </a:rPr>
              <a:t>            cms[(name, frac)]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cm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pd.DataFrame(rows).sort_values([</a:t>
            </a:r>
            <a:r>
              <a:rPr>
                <a:solidFill>
                  <a:srgbClr val="4070A0"/>
                </a:solidFill>
                <a:latin typeface="Courier"/>
              </a:rPr>
              <a:t>"model"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"flip_frac"</a:t>
            </a:r>
            <a:r>
              <a:rPr>
                <a:latin typeface="Courier"/>
              </a:rPr>
              <a:t>]).reset_index(drop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), cms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Paper Comparison (Our Results ↔ Aryal et al.)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Accuracy and recall decline as flip fraction increases; recall suffers notably (more missed malware).</a:t>
            </a:r>
          </a:p>
          <a:p>
            <a:pPr lvl="0"/>
            <a:r>
              <a:rPr/>
              <a:t>Linear/SVM degrade sharply; RandomForest is more resilient; MLP mixed — aligns with paper’s trends.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Limitations and Defenses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Limits: proxy dataset subset (~10k rows), random flips (not targeted), single split/seed.</a:t>
            </a:r>
          </a:p>
          <a:p>
            <a:pPr lvl="0"/>
            <a:r>
              <a:rPr/>
              <a:t>Defenses: label audits/sanitization, robust training losses, consensus labeling, anomaly filters.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Appendix: Extra Flip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Included </a:t>
            </a:r>
            <a:r>
              <a:rPr>
                <a:latin typeface="Courier"/>
              </a:rPr>
              <a:t>flip_fracs = 0.3, 0.4</a:t>
            </a:r>
            <a:r>
              <a:rPr/>
              <a:t> to show monotonic degradation beyond 0.2.</a:t>
            </a:r>
          </a:p>
          <a:p>
            <a:pPr lvl="0"/>
            <a:r>
              <a:rPr/>
              <a:t>Confusion matrices shown at 0.4 for clearer error patterns.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 (3–5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0:30 — Threat model and objective (recall sensitivity in malware).</a:t>
            </a:r>
          </a:p>
          <a:p>
            <a:pPr lvl="0"/>
            <a:r>
              <a:rPr/>
              <a:t>1:00 — Design: data/split/models/preprocess/metrics.</a:t>
            </a:r>
          </a:p>
          <a:p>
            <a:pPr lvl="0"/>
            <a:r>
              <a:rPr/>
              <a:t>1:30 — Implementation proof: command + artifacts.</a:t>
            </a:r>
          </a:p>
          <a:p>
            <a:pPr lvl="0"/>
            <a:r>
              <a:rPr/>
              <a:t>1:30 — Results + error analysis; map to paper; quick defenses.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Label‑Flip Poisoning Attack on ML‑based Malware Detectors</a:t>
            </a:r>
          </a:p>
          <a:p>
            <a:pPr lvl="0"/>
            <a:r>
              <a:rPr/>
              <a:t>Based on: Aryal et al., “Analysis of Label‑Flip Poisoning Attack on Machine Learning Based Malware Detector”</a:t>
            </a:r>
          </a:p>
          <a:p>
            <a:pPr lvl="0"/>
            <a:r>
              <a:rPr/>
              <a:t>Your implementation: reproduce methodology, validate trends, discuss implications</a:t>
            </a:r>
          </a:p>
          <a:p>
            <a:pPr lvl="0" indent="0" marL="0">
              <a:buNone/>
            </a:pPr>
            <a:r>
              <a:rPr i="1"/>
              <a:t>Notes: Introduce the paper, our goal (reproduce + analyze), and the structure of the talk (intro → problem → methods → results → conclusions/defenses).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 — ML for Malware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Why ML is used:</a:t>
            </a:r>
          </a:p>
          <a:p>
            <a:pPr lvl="1"/>
            <a:r>
              <a:rPr/>
              <a:t>Scale: billions of samples; manual triage infeasible</a:t>
            </a:r>
          </a:p>
          <a:p>
            <a:pPr lvl="1"/>
            <a:r>
              <a:rPr/>
              <a:t>Generalization: detect novel malware beyond signature rules</a:t>
            </a:r>
          </a:p>
          <a:p>
            <a:pPr lvl="1"/>
            <a:r>
              <a:rPr/>
              <a:t>Adaptivity: models can be retrained as threats evolve</a:t>
            </a:r>
          </a:p>
          <a:p>
            <a:pPr lvl="0"/>
            <a:r>
              <a:rPr/>
              <a:t>Where features come from:</a:t>
            </a:r>
          </a:p>
          <a:p>
            <a:pPr lvl="1"/>
            <a:r>
              <a:rPr/>
              <a:t>Static analysis (PE headers, imports, strings, byte n‑grams)</a:t>
            </a:r>
          </a:p>
          <a:p>
            <a:pPr lvl="1"/>
            <a:r>
              <a:rPr/>
              <a:t>Dynamic analysis (behavioral traces, API calls, network I/O)</a:t>
            </a:r>
          </a:p>
          <a:p>
            <a:pPr lvl="1"/>
            <a:r>
              <a:rPr/>
              <a:t>Hybrid / metadata (reputation, sandbox outcomes)</a:t>
            </a:r>
          </a:p>
          <a:p>
            <a:pPr lvl="0"/>
            <a:r>
              <a:rPr/>
              <a:t>Common model families:</a:t>
            </a:r>
          </a:p>
          <a:p>
            <a:pPr lvl="1"/>
            <a:r>
              <a:rPr/>
              <a:t>Linear/logistic models, SVMs</a:t>
            </a:r>
          </a:p>
          <a:p>
            <a:pPr lvl="1"/>
            <a:r>
              <a:rPr/>
              <a:t>Trees and ensembles (Random Forest, Gradient Boosting)</a:t>
            </a:r>
          </a:p>
          <a:p>
            <a:pPr lvl="1"/>
            <a:r>
              <a:rPr/>
              <a:t>k‑NN, shallow NNs / MLPs, modern deep models</a:t>
            </a:r>
          </a:p>
          <a:p>
            <a:pPr lvl="0" indent="0" marL="0">
              <a:buNone/>
            </a:pPr>
            <a:r>
              <a:rPr i="1"/>
              <a:t>Notes: Emphasize scale and need for generalization; mention static/dynamic features and why different model families are used across vendors/research.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Objective (paper): quantify how simple training‑time label flips impact malware detector performance across classic ML models</a:t>
            </a:r>
          </a:p>
          <a:p>
            <a:pPr lvl="0"/>
            <a:r>
              <a:rPr/>
              <a:t>Threat model: attacker flips a fraction of training labels (10–20%); test set is clean</a:t>
            </a:r>
          </a:p>
          <a:p>
            <a:pPr lvl="0"/>
            <a:r>
              <a:rPr/>
              <a:t>Why this paper:</a:t>
            </a:r>
          </a:p>
          <a:p>
            <a:pPr lvl="1"/>
            <a:r>
              <a:rPr/>
              <a:t>Practicality: label noise can creep in via pipelines, weak labeling, or adversaries</a:t>
            </a:r>
          </a:p>
          <a:p>
            <a:pPr lvl="1"/>
            <a:r>
              <a:rPr/>
              <a:t>Breadth: compares 8 models to reveal family‑specific brittleness</a:t>
            </a:r>
          </a:p>
          <a:p>
            <a:pPr lvl="1"/>
            <a:r>
              <a:rPr/>
              <a:t>Security relevance: recall degradation → missed malware (highest risk)</a:t>
            </a:r>
          </a:p>
          <a:p>
            <a:pPr lvl="0"/>
            <a:r>
              <a:rPr/>
              <a:t>Why look across models:</a:t>
            </a:r>
          </a:p>
          <a:p>
            <a:pPr lvl="1"/>
            <a:r>
              <a:rPr/>
              <a:t>Linear models: decision boundary shifts under label noise</a:t>
            </a:r>
          </a:p>
          <a:p>
            <a:pPr lvl="1"/>
            <a:r>
              <a:rPr/>
              <a:t>Trees/ensembles: often more resilient, but not immune</a:t>
            </a:r>
          </a:p>
          <a:p>
            <a:pPr lvl="1"/>
            <a:r>
              <a:rPr/>
              <a:t>MLPs: may overfit/regularize differently, yielding mixed outcomes</a:t>
            </a:r>
          </a:p>
          <a:p>
            <a:pPr lvl="0" indent="0" marL="0">
              <a:buNone/>
            </a:pPr>
            <a:r>
              <a:rPr i="1"/>
              <a:t>Notes: Connect robustness to real risk (false negatives). Justify multi‑model evaluation as part of model selection and defense prioritization.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Methodology — Paper (what they did)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Dataset: VT/VirusShare‑style binary malware labels (paper’s proprietary corpus)</a:t>
            </a:r>
          </a:p>
          <a:p>
            <a:pPr lvl="0"/>
            <a:r>
              <a:rPr/>
              <a:t>Models: 8 classic ML</a:t>
            </a:r>
          </a:p>
          <a:p>
            <a:pPr lvl="1"/>
            <a:r>
              <a:rPr/>
              <a:t>SGD, RandomForest, LogisticRegression, KNN, LinearSVM, DecisionTree, Perceptron, MLP</a:t>
            </a:r>
          </a:p>
          <a:p>
            <a:pPr lvl="0"/>
            <a:r>
              <a:rPr/>
              <a:t>Protocol:</a:t>
            </a:r>
          </a:p>
          <a:p>
            <a:pPr lvl="1"/>
            <a:r>
              <a:rPr/>
              <a:t>Stratified train/test split; identical split across conditions</a:t>
            </a:r>
          </a:p>
          <a:p>
            <a:pPr lvl="1"/>
            <a:r>
              <a:rPr/>
              <a:t>Poisoning: randomly flip y for 10% and 20% of training samples</a:t>
            </a:r>
          </a:p>
          <a:p>
            <a:pPr lvl="1"/>
            <a:r>
              <a:rPr/>
              <a:t>Evaluation: Accuracy, Precision, Recall; qualitative error analysis</a:t>
            </a:r>
          </a:p>
          <a:p>
            <a:pPr lvl="0" indent="0" marL="0">
              <a:buNone/>
            </a:pPr>
            <a:r>
              <a:rPr i="1"/>
              <a:t>Notes: Keep this concise. The key is the label‑flip mechanism and the breadth of model families.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Methodology — Our implementation (what we did)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Data: </a:t>
            </a:r>
            <a:r>
              <a:rPr>
                <a:latin typeface="Courier"/>
              </a:rPr>
              <a:t>ML-case-study/Kaggle-data.csv</a:t>
            </a:r>
            <a:r>
              <a:rPr/>
              <a:t> (binary </a:t>
            </a:r>
            <a:r>
              <a:rPr>
                <a:latin typeface="Courier"/>
              </a:rPr>
              <a:t>legitimate</a:t>
            </a:r>
            <a:r>
              <a:rPr/>
              <a:t> label)</a:t>
            </a:r>
          </a:p>
          <a:p>
            <a:pPr lvl="0"/>
            <a:r>
              <a:rPr/>
              <a:t>Split: stratified 80/20, seed=42; sampled to ~10k rows for runtime</a:t>
            </a:r>
          </a:p>
          <a:p>
            <a:pPr lvl="0"/>
            <a:r>
              <a:rPr/>
              <a:t>Preprocessing:</a:t>
            </a:r>
          </a:p>
          <a:p>
            <a:pPr lvl="1"/>
            <a:r>
              <a:rPr/>
              <a:t>Numeric features → median impute (+ scaling for linear/NN/KNN)</a:t>
            </a:r>
          </a:p>
          <a:p>
            <a:pPr lvl="1"/>
            <a:r>
              <a:rPr/>
              <a:t>Trees use imputation only</a:t>
            </a:r>
          </a:p>
          <a:p>
            <a:pPr lvl="0"/>
            <a:r>
              <a:rPr/>
              <a:t>Models: same 8 models as paper; unified pipelines</a:t>
            </a:r>
          </a:p>
          <a:p>
            <a:pPr lvl="0"/>
            <a:r>
              <a:rPr/>
              <a:t>Repro command:</a:t>
            </a:r>
          </a:p>
          <a:p>
            <a:pPr lvl="0" indent="0">
              <a:buNone/>
            </a:pPr>
            <a:r>
              <a:rPr>
                <a:latin typeface="Courier"/>
              </a:rPr>
              <a:t>python ML-case-study/run_experiments.py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--input-csv</a:t>
            </a:r>
            <a:r>
              <a:rPr>
                <a:latin typeface="Courier"/>
              </a:rPr>
              <a:t> ML-case-study/Kaggle-data.csv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--label-col</a:t>
            </a:r>
            <a:r>
              <a:rPr>
                <a:latin typeface="Courier"/>
              </a:rPr>
              <a:t> legitimate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--sample-size</a:t>
            </a:r>
            <a:r>
              <a:rPr>
                <a:latin typeface="Courier"/>
              </a:rPr>
              <a:t> 10000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--test-size</a:t>
            </a:r>
            <a:r>
              <a:rPr>
                <a:latin typeface="Courier"/>
              </a:rPr>
              <a:t> 0.2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--flip-fracs</a:t>
            </a:r>
            <a:r>
              <a:rPr>
                <a:latin typeface="Courier"/>
              </a:rPr>
              <a:t> 0.0 0.1 0.2 0.3 0.4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--seed</a:t>
            </a:r>
            <a:r>
              <a:rPr>
                <a:latin typeface="Courier"/>
              </a:rPr>
              <a:t> 42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--output-dir</a:t>
            </a:r>
            <a:r>
              <a:rPr>
                <a:latin typeface="Courier"/>
              </a:rPr>
              <a:t> ML-case-study/outputs</a:t>
            </a:r>
          </a:p>
          <a:p>
            <a:pPr lvl="0" indent="0" marL="0">
              <a:buNone/>
            </a:pPr>
            <a:r>
              <a:rPr i="1"/>
              <a:t>Notes: Stress alignment with the paper and the small differences (dataset proxy, added 0.3/0.4).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Results — Paper findings (adapted)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Percent change vs. clean (negative = drop, positive = improvement)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 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 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F1 Δ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SGD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−0.8%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−22.1%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−6.6%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Decision Tree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−13.0%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−26.5%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−19.8%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 Forest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−4.2%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+11.3%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−0.4%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Logistic 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−9.8%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−14.6%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−13.4%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KNN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−11.1%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−15.7%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−14.7%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Linear SVM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−27.5%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−63.7%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−52.8%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Perceptron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−46.7%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−64.7%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(n/a)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MLP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+15.8%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−8.9%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+15.5%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Source: Aryal et al. (see paper for full tables/figures)</a:t>
            </a:r>
          </a:p>
          <a:p>
            <a:pPr lvl="0" indent="0" marL="0">
              <a:buNone/>
            </a:pPr>
            <a:r>
              <a:rPr i="1"/>
              <a:t>Notes: Highlight severe recall drops (Linear SVM, Perceptron). Point out RF resilience and MLP’s mixed outcome (accuracy up, recall down).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 — Paper figures (context and relevance)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Key observations supported by the paper’s tables/plots:</a:t>
            </a:r>
          </a:p>
          <a:p>
            <a:pPr lvl="1"/>
            <a:r>
              <a:rPr/>
              <a:t>Recall suffers most under label flips → more missed malware</a:t>
            </a:r>
          </a:p>
          <a:p>
            <a:pPr lvl="1"/>
            <a:r>
              <a:rPr/>
              <a:t>Linear models degrade sharply; tree ensembles degrade less at low flip rate</a:t>
            </a:r>
          </a:p>
          <a:p>
            <a:pPr lvl="1"/>
            <a:r>
              <a:rPr/>
              <a:t>Trends persist across multiple settings/seeds in the paper</a:t>
            </a:r>
          </a:p>
          <a:p>
            <a:pPr lvl="0"/>
            <a:r>
              <a:rPr/>
              <a:t>See paper figures/tables for visuals:</a:t>
            </a:r>
          </a:p>
          <a:p>
            <a:pPr lvl="1"/>
            <a:r>
              <a:rPr/>
              <a:t>Metric comparison across models (tables)</a:t>
            </a:r>
          </a:p>
          <a:p>
            <a:pPr lvl="1"/>
            <a:r>
              <a:rPr/>
              <a:t>Confusion patterns (discussion/plots)</a:t>
            </a:r>
          </a:p>
          <a:p>
            <a:pPr lvl="0"/>
            <a:r>
              <a:rPr/>
              <a:t>Reference: </a:t>
            </a:r>
            <a:r>
              <a:rPr>
                <a:hlinkClick r:id="rId2"/>
              </a:rPr>
              <a:t>Aryal et al. PDF</a:t>
            </a:r>
          </a:p>
          <a:p>
            <a:pPr lvl="0" indent="0" marL="0">
              <a:buNone/>
            </a:pPr>
            <a:r>
              <a:rPr i="1"/>
              <a:t>Notes: If allowed, insert screenshots of the paper’s metric table and any confusion/error plots to visually back this slide.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Results — Our local results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Accuracy by model and flip fraction:</a:t>
            </a:r>
          </a:p>
        </p:txBody>
      </p:sp>
      <p:pic>
        <p:nvPicPr>
          <p:cNvPr descr="../outputs/metrics_bar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863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Local barplot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 confusion matrices @ flip = 0.4: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outputs/cm_LogisticRegression_0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46400" y="1193800"/>
            <a:ext cx="3238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LR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RF MLP</a:t>
            </a:r>
          </a:p>
          <a:p>
            <a:pPr lvl="0" indent="0" marL="0">
              <a:buNone/>
            </a:pPr>
            <a:r>
              <a:rPr/>
              <a:t>Discussion: - Qualitative alignment: recall tends to drop; linear models more brittle; RF relatively robust - Differences vs. paper can stem from: - Dataset domain/feature distribution (Kaggle proxy vs. VT/VirusShare) - Sample size/runtime constraints, preprocessing, regularization - Single split/seed; stochastic training variability</a:t>
            </a:r>
          </a:p>
          <a:p>
            <a:pPr lvl="0" indent="0" marL="0">
              <a:buNone/>
            </a:pPr>
            <a:r>
              <a:rPr i="1"/>
              <a:t>Notes: Use the barplot to tell the overall story; use one confusion matrix to illustrate false negatives increasing.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 (from the paper)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Simple label‑flip poisoning can materially degrade malware detectors</a:t>
            </a:r>
          </a:p>
          <a:p>
            <a:pPr lvl="0"/>
            <a:r>
              <a:rPr/>
              <a:t>Impact is model‑dependent:</a:t>
            </a:r>
          </a:p>
          <a:p>
            <a:pPr lvl="1"/>
            <a:r>
              <a:rPr/>
              <a:t>Linear/SVM often degrade most</a:t>
            </a:r>
          </a:p>
          <a:p>
            <a:pPr lvl="1"/>
            <a:r>
              <a:rPr/>
              <a:t>Tree ensembles show relative resilience at lower flip fractions</a:t>
            </a:r>
          </a:p>
          <a:p>
            <a:pPr lvl="1"/>
            <a:r>
              <a:rPr/>
              <a:t>MLP shows mixed behavior depending on training dynamics</a:t>
            </a:r>
          </a:p>
          <a:p>
            <a:pPr lvl="0"/>
            <a:r>
              <a:rPr/>
              <a:t>Practical takeaway: label integrity and data quality gates are essential in malware detection pipelines</a:t>
            </a:r>
          </a:p>
          <a:p>
            <a:pPr lvl="0" indent="0" marL="0">
              <a:buNone/>
            </a:pPr>
            <a:r>
              <a:rPr i="1"/>
              <a:t>Notes: Tie back to operational risk: missed malware is the critical failure mode.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Future Work and Defenses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Data provenance &amp; trusted labeling — </a:t>
            </a:r>
            <a:r>
              <a:rPr>
                <a:hlinkClick r:id="rId2"/>
              </a:rPr>
              <a:t>Datasheets for Datasets (Gebru et al.)</a:t>
            </a:r>
          </a:p>
          <a:p>
            <a:pPr lvl="0" indent="-342900" marL="342900">
              <a:buAutoNum type="arabicPeriod"/>
            </a:pPr>
            <a:r>
              <a:rPr/>
              <a:t>Label sanitization / outlier detection — </a:t>
            </a:r>
            <a:r>
              <a:rPr>
                <a:hlinkClick r:id="rId3"/>
              </a:rPr>
              <a:t>Confident Learning / Cleanlab (Northcutt et al.)</a:t>
            </a:r>
          </a:p>
          <a:p>
            <a:pPr lvl="0" indent="-342900" marL="342900">
              <a:buAutoNum type="arabicPeriod"/>
            </a:pPr>
            <a:r>
              <a:rPr/>
              <a:t>Influence‑based auditing — </a:t>
            </a:r>
            <a:r>
              <a:rPr>
                <a:hlinkClick r:id="rId4"/>
              </a:rPr>
              <a:t>Influence Functions (Koh &amp; Liang)</a:t>
            </a:r>
          </a:p>
          <a:p>
            <a:pPr lvl="0" indent="-342900" marL="342900">
              <a:buAutoNum type="arabicPeriod"/>
            </a:pPr>
            <a:r>
              <a:rPr/>
              <a:t>Robust learning objectives — </a:t>
            </a:r>
            <a:r>
              <a:rPr>
                <a:hlinkClick r:id="rId5"/>
              </a:rPr>
              <a:t>Generalized Cross‑Entropy (Zhang &amp; Sabuncu)</a:t>
            </a:r>
          </a:p>
          <a:p>
            <a:pPr lvl="0" indent="-342900" marL="342900">
              <a:buAutoNum type="arabicPeriod"/>
            </a:pPr>
            <a:r>
              <a:rPr/>
              <a:t>Adversarial / poison‑aware training — </a:t>
            </a:r>
            <a:r>
              <a:rPr>
                <a:hlinkClick r:id="rId6"/>
              </a:rPr>
              <a:t>Certified Defenses for Data Poisoning (Steinhardt et al.)</a:t>
            </a:r>
          </a:p>
          <a:p>
            <a:pPr lvl="0" indent="-342900" marL="342900">
              <a:buAutoNum type="arabicPeriod"/>
            </a:pPr>
            <a:r>
              <a:rPr/>
              <a:t>Ensemble &amp; cross‑validation across sources — </a:t>
            </a:r>
            <a:r>
              <a:rPr>
                <a:hlinkClick r:id="rId7"/>
              </a:rPr>
              <a:t>Co‑Teaching for noisy labels (Han et al.)</a:t>
            </a:r>
          </a:p>
          <a:p>
            <a:pPr lvl="0" indent="-342900" marL="342900">
              <a:buAutoNum type="arabicPeriod"/>
            </a:pPr>
            <a:r>
              <a:rPr/>
              <a:t>Continuous monitoring &amp; rollback — </a:t>
            </a:r>
            <a:r>
              <a:rPr>
                <a:hlinkClick r:id="rId8"/>
              </a:rPr>
              <a:t>Hidden Technical Debt in ML Systems (Sculley et al.)</a:t>
            </a:r>
          </a:p>
          <a:p>
            <a:pPr lvl="0" indent="0" marL="0">
              <a:buNone/>
            </a:pPr>
            <a:r>
              <a:rPr i="1"/>
              <a:t>Notes: One‑liner rationale for each defense; emphasize layered approach (prevent, detect, mitigate, monitor).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Label-Flip Poisoning Attack on Malware Detection</dc:title>
  <dc:creator/>
  <cp:keywords/>
  <dcterms:created xsi:type="dcterms:W3CDTF">2025-11-13T13:50:35Z</dcterms:created>
  <dcterms:modified xsi:type="dcterms:W3CDTF">2025-11-13T13:50:35Z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</Properties>
</file>