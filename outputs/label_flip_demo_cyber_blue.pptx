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arxiv.org/pdf/2301.01044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rxiv.org/abs/1803.09010" TargetMode="External" /><Relationship Id="rId3" Type="http://schemas.openxmlformats.org/officeDocument/2006/relationships/hyperlink" Target="https://arxiv.org/abs/1911.00068" TargetMode="External" /><Relationship Id="rId4" Type="http://schemas.openxmlformats.org/officeDocument/2006/relationships/hyperlink" Target="https://arxiv.org/abs/1703.04730" TargetMode="External" /><Relationship Id="rId5" Type="http://schemas.openxmlformats.org/officeDocument/2006/relationships/hyperlink" Target="https://arxiv.org/abs/1805.07836" TargetMode="External" /><Relationship Id="rId6" Type="http://schemas.openxmlformats.org/officeDocument/2006/relationships/hyperlink" Target="https://arxiv.org/abs/1706.03691" TargetMode="External" /><Relationship Id="rId7" Type="http://schemas.openxmlformats.org/officeDocument/2006/relationships/hyperlink" Target="https://arxiv.org/abs/1804.06872" TargetMode="External" /><Relationship Id="rId8" Type="http://schemas.openxmlformats.org/officeDocument/2006/relationships/hyperlink" Target="https://arxiv.org/abs/1609.03731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Label-Flip Poisoning Attack on Malware Detection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Label‑Flip Poisoning Attack on ML‑based Malware Detectors</a:t>
            </a:r>
          </a:p>
          <a:p>
            <a:pPr lvl="0"/>
            <a:r>
              <a:rPr/>
              <a:t>Your Name, Affiliation</a:t>
            </a:r>
          </a:p>
          <a:p>
            <a:pPr lvl="0"/>
            <a:r>
              <a:rPr/>
              <a:t>Based on: Aryal et al., “Analysis of Label‑Flip Poisoning Attack on Machine Learning Based Malware Detector”</a:t>
            </a:r>
          </a:p>
          <a:p>
            <a:pPr lvl="0"/>
            <a:r>
              <a:rPr/>
              <a:t>Paper: http://arxiv.org/pdf/2301.01044</a:t>
            </a:r>
          </a:p>
          <a:p>
            <a:pPr lvl="0"/>
            <a:r>
              <a:rPr/>
              <a:t>Dataset: https://www.kaggle.com/competitions/malware-detection/data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Why ML for malware detection:</a:t>
            </a:r>
          </a:p>
          <a:p>
            <a:pPr lvl="1"/>
            <a:r>
              <a:rPr/>
              <a:t>Scale: billions of samples → manual triage infeasible</a:t>
            </a:r>
          </a:p>
          <a:p>
            <a:pPr lvl="1"/>
            <a:r>
              <a:rPr/>
              <a:t>Generalization: beyond signatures and static rules</a:t>
            </a:r>
          </a:p>
          <a:p>
            <a:pPr lvl="1"/>
            <a:r>
              <a:rPr/>
              <a:t>Adaptivity: retrain as threats evolve</a:t>
            </a:r>
          </a:p>
          <a:p>
            <a:pPr lvl="0"/>
            <a:r>
              <a:rPr/>
              <a:t>Feature sources:</a:t>
            </a:r>
          </a:p>
          <a:p>
            <a:pPr lvl="1"/>
            <a:r>
              <a:rPr/>
              <a:t>Static (PE headers, imports, byte/strings)</a:t>
            </a:r>
          </a:p>
          <a:p>
            <a:pPr lvl="1"/>
            <a:r>
              <a:rPr/>
              <a:t>Dynamic (behavior/API traces, network I/O)</a:t>
            </a:r>
          </a:p>
          <a:p>
            <a:pPr lvl="1"/>
            <a:r>
              <a:rPr/>
              <a:t>Hybrid/metadata (reputation, sandbox outcomes)</a:t>
            </a:r>
          </a:p>
          <a:p>
            <a:pPr lvl="0"/>
            <a:r>
              <a:rPr/>
              <a:t>Models in practice/research:</a:t>
            </a:r>
          </a:p>
          <a:p>
            <a:pPr lvl="1"/>
            <a:r>
              <a:rPr/>
              <a:t>Linear/logistic, SVMs</a:t>
            </a:r>
          </a:p>
          <a:p>
            <a:pPr lvl="1"/>
            <a:r>
              <a:rPr/>
              <a:t>Trees/ensembles (Random Forest, boosting)</a:t>
            </a:r>
          </a:p>
          <a:p>
            <a:pPr lvl="1"/>
            <a:r>
              <a:rPr/>
              <a:t>k‑NN, MLPs, deeper architectures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Objective (paper): measure how training‑time label flips impact malware detector performance across model families</a:t>
            </a:r>
          </a:p>
          <a:p>
            <a:pPr lvl="0"/>
            <a:r>
              <a:rPr/>
              <a:t>Threat model: flip y for a fraction of training samples (10–20%); clean test set</a:t>
            </a:r>
          </a:p>
          <a:p>
            <a:pPr lvl="0"/>
            <a:r>
              <a:rPr/>
              <a:t>Why this paper:</a:t>
            </a:r>
          </a:p>
          <a:p>
            <a:pPr lvl="1"/>
            <a:r>
              <a:rPr/>
              <a:t>Realistic: weak/automated labeling pipelines introduce noise</a:t>
            </a:r>
          </a:p>
          <a:p>
            <a:pPr lvl="1"/>
            <a:r>
              <a:rPr/>
              <a:t>Comparative: 8 classic models → family‑specific brittleness</a:t>
            </a:r>
          </a:p>
          <a:p>
            <a:pPr lvl="1"/>
            <a:r>
              <a:rPr/>
              <a:t>Security: recall degradation = missed malware (critical risk)</a:t>
            </a:r>
          </a:p>
          <a:p>
            <a:pPr lvl="0"/>
            <a:r>
              <a:rPr/>
              <a:t>Why evaluate across models:</a:t>
            </a:r>
          </a:p>
          <a:p>
            <a:pPr lvl="1"/>
            <a:r>
              <a:rPr/>
              <a:t>Linear boundaries shift under noise; trees often more resilient; MLPs mixed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Methodology (paper)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Dataset: VT/VirusShare‑style binary labels (paper’s corpus)</a:t>
            </a:r>
          </a:p>
          <a:p>
            <a:pPr lvl="0"/>
            <a:r>
              <a:rPr/>
              <a:t>Models (8): SGD, RandomForest, LogisticRegression, KNN, LinearSVM, DecisionTree, Perceptron, MLP</a:t>
            </a:r>
          </a:p>
          <a:p>
            <a:pPr lvl="0"/>
            <a:r>
              <a:rPr/>
              <a:t>Protocol:</a:t>
            </a:r>
          </a:p>
          <a:p>
            <a:pPr lvl="1"/>
            <a:r>
              <a:rPr/>
              <a:t>Stratified train/test; identical split for clean vs. poisoned</a:t>
            </a:r>
          </a:p>
          <a:p>
            <a:pPr lvl="1"/>
            <a:r>
              <a:rPr/>
              <a:t>Poisoning: random label flips at 10% and 20% of training labels</a:t>
            </a:r>
          </a:p>
          <a:p>
            <a:pPr lvl="1"/>
            <a:r>
              <a:rPr/>
              <a:t>Metrics: Accuracy, Precision, Recall; confusion analyses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Methodology (our implementation)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Data: </a:t>
            </a:r>
            <a:r>
              <a:rPr>
                <a:latin typeface="Courier"/>
              </a:rPr>
              <a:t>ML-case-study/Kaggle-data.csv</a:t>
            </a:r>
            <a:r>
              <a:rPr/>
              <a:t> (label: </a:t>
            </a:r>
            <a:r>
              <a:rPr>
                <a:latin typeface="Courier"/>
              </a:rPr>
              <a:t>legitimate</a:t>
            </a:r>
            <a:r>
              <a:rPr/>
              <a:t>)</a:t>
            </a:r>
          </a:p>
          <a:p>
            <a:pPr lvl="0"/>
            <a:r>
              <a:rPr/>
              <a:t>Split: stratified 80/20, seed=42; sample ≈10k rows for runtime</a:t>
            </a:r>
          </a:p>
          <a:p>
            <a:pPr lvl="0"/>
            <a:r>
              <a:rPr/>
              <a:t>Preprocessing: median impute; scaling for linear/NN/KNN; trees use imputation only</a:t>
            </a:r>
          </a:p>
          <a:p>
            <a:pPr lvl="0"/>
            <a:r>
              <a:rPr/>
              <a:t>Models: same 8; unified pipelines</a:t>
            </a:r>
          </a:p>
          <a:p>
            <a:pPr lvl="0"/>
            <a:r>
              <a:rPr/>
              <a:t>Command:</a:t>
            </a:r>
          </a:p>
          <a:p>
            <a:pPr lvl="0" indent="0">
              <a:buNone/>
            </a:pPr>
            <a:r>
              <a:rPr>
                <a:latin typeface="Courier"/>
              </a:rPr>
              <a:t>python ML-case-study/run_experiments.py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--input-csv</a:t>
            </a:r>
            <a:r>
              <a:rPr>
                <a:latin typeface="Courier"/>
              </a:rPr>
              <a:t> ML-case-study/Kaggle-data.csv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--label-col</a:t>
            </a:r>
            <a:r>
              <a:rPr>
                <a:latin typeface="Courier"/>
              </a:rPr>
              <a:t> legitimate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--sample-size</a:t>
            </a:r>
            <a:r>
              <a:rPr>
                <a:latin typeface="Courier"/>
              </a:rPr>
              <a:t> 10000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--test-size</a:t>
            </a:r>
            <a:r>
              <a:rPr>
                <a:latin typeface="Courier"/>
              </a:rPr>
              <a:t> 0.2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--flip-fracs</a:t>
            </a:r>
            <a:r>
              <a:rPr>
                <a:latin typeface="Courier"/>
              </a:rPr>
              <a:t> 0.0 0.1 0.2 0.3 0.4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--seed</a:t>
            </a:r>
            <a:r>
              <a:rPr>
                <a:latin typeface="Courier"/>
              </a:rPr>
              <a:t> 42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--output-dir</a:t>
            </a:r>
            <a:r>
              <a:rPr>
                <a:latin typeface="Courier"/>
              </a:rPr>
              <a:t> ML-case-study/outputs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Results and Discussion (paper findings)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10% flip — percent change vs. clean (paper):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F1 Δ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SGD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−0.8%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−22.1%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−6.6%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Decision Tree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−13.0%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−26.5%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−19.8%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Forest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−4.2%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+11.3%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−0.4%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−9.8%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−14.6%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−13.4%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−11.1%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−15.7%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−14.7%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Linear SVM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−27.5%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−63.7%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−52.8%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Perceptron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−46.7%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−64.7%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(n/a)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MLP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+15.8%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−8.9%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+15.5%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Source: Aryal et al. — see paper for full figures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 and Discussion (paper relevance)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Trends supported by paper visuals:</a:t>
            </a:r>
          </a:p>
          <a:p>
            <a:pPr lvl="1"/>
            <a:r>
              <a:rPr/>
              <a:t>Recall suffers most → more false negatives (missed malware)</a:t>
            </a:r>
          </a:p>
          <a:p>
            <a:pPr lvl="1"/>
            <a:r>
              <a:rPr/>
              <a:t>Linear/SVM degrade sharply; tree ensembles more resilient at low flip</a:t>
            </a:r>
          </a:p>
          <a:p>
            <a:pPr lvl="1"/>
            <a:r>
              <a:rPr/>
              <a:t>Patterns persist across settings/seeds</a:t>
            </a:r>
          </a:p>
          <a:p>
            <a:pPr lvl="0"/>
            <a:r>
              <a:rPr/>
              <a:t>Insert paper screenshots (tables/plots) here if permitted</a:t>
            </a:r>
          </a:p>
          <a:p>
            <a:pPr lvl="0"/>
            <a:r>
              <a:rPr/>
              <a:t>Reference: </a:t>
            </a:r>
            <a:r>
              <a:rPr>
                <a:hlinkClick r:id="rId2"/>
              </a:rPr>
              <a:t>Aryal et al. PDF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Results and Discussion (our local results)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Accuracy by model and flip fraction:</a:t>
            </a:r>
          </a:p>
        </p:txBody>
      </p:sp>
      <p:pic>
        <p:nvPicPr>
          <p:cNvPr descr="../outputs/metrics_bar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Barplot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Confusion matrices @ flip = 0.4: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outputs/cm_LogisticRegression_0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46400" y="1193800"/>
            <a:ext cx="3238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LR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RF MLP</a:t>
            </a:r>
          </a:p>
          <a:p>
            <a:pPr lvl="0"/>
            <a:r>
              <a:rPr/>
              <a:t>Alignment: recall drops; linear models brittle; RF relatively robust</a:t>
            </a:r>
          </a:p>
          <a:p>
            <a:pPr lvl="0"/>
            <a:r>
              <a:rPr/>
              <a:t>Differences vs paper: dataset/feature domain, sample size/runtime, preprocessing/regularization, single split/seed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 and future work (paper conclusion)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Label‑flip poisoning degrades malware detectors; impact varies by model family</a:t>
            </a:r>
          </a:p>
          <a:p>
            <a:pPr lvl="0"/>
            <a:r>
              <a:rPr/>
              <a:t>Linear/SVM degrade most; tree ensembles relatively resilient at lower flip; MLP mixed</a:t>
            </a:r>
          </a:p>
          <a:p>
            <a:pPr lvl="0"/>
            <a:r>
              <a:rPr/>
              <a:t>Takeaway: label integrity and data‑quality gates are essential in production pipelines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 and future work (defenses)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Data provenance &amp; trusted labeling — </a:t>
            </a:r>
            <a:r>
              <a:rPr>
                <a:hlinkClick r:id="rId2"/>
              </a:rPr>
              <a:t>Datasheets for Datasets (Gebru et al.)</a:t>
            </a:r>
          </a:p>
          <a:p>
            <a:pPr lvl="0" indent="-342900" marL="342900">
              <a:buAutoNum type="arabicPeriod"/>
            </a:pPr>
            <a:r>
              <a:rPr/>
              <a:t>Label sanitization / outlier detection — </a:t>
            </a:r>
            <a:r>
              <a:rPr>
                <a:hlinkClick r:id="rId3"/>
              </a:rPr>
              <a:t>Confident Learning / Cleanlab (Northcutt et al.)</a:t>
            </a:r>
          </a:p>
          <a:p>
            <a:pPr lvl="0" indent="-342900" marL="342900">
              <a:buAutoNum type="arabicPeriod"/>
            </a:pPr>
            <a:r>
              <a:rPr/>
              <a:t>Influence‑based auditing — </a:t>
            </a:r>
            <a:r>
              <a:rPr>
                <a:hlinkClick r:id="rId4"/>
              </a:rPr>
              <a:t>Influence Functions (Koh &amp; Liang)</a:t>
            </a:r>
          </a:p>
          <a:p>
            <a:pPr lvl="0" indent="-342900" marL="342900">
              <a:buAutoNum type="arabicPeriod"/>
            </a:pPr>
            <a:r>
              <a:rPr/>
              <a:t>Robust learning objectives — </a:t>
            </a:r>
            <a:r>
              <a:rPr>
                <a:hlinkClick r:id="rId5"/>
              </a:rPr>
              <a:t>Generalized Cross‑Entropy (Zhang &amp; Sabuncu)</a:t>
            </a:r>
          </a:p>
          <a:p>
            <a:pPr lvl="0" indent="-342900" marL="342900">
              <a:buAutoNum type="arabicPeriod"/>
            </a:pPr>
            <a:r>
              <a:rPr/>
              <a:t>Adversarial / poison‑aware training — </a:t>
            </a:r>
            <a:r>
              <a:rPr>
                <a:hlinkClick r:id="rId6"/>
              </a:rPr>
              <a:t>Certified Defenses for Data Poisoning (Steinhardt et al.)</a:t>
            </a:r>
          </a:p>
          <a:p>
            <a:pPr lvl="0" indent="-342900" marL="342900">
              <a:buAutoNum type="arabicPeriod"/>
            </a:pPr>
            <a:r>
              <a:rPr/>
              <a:t>Ensemble &amp; cross‑validation across sources — </a:t>
            </a:r>
            <a:r>
              <a:rPr>
                <a:hlinkClick r:id="rId7"/>
              </a:rPr>
              <a:t>Co‑Teaching (Han et al.)</a:t>
            </a:r>
          </a:p>
          <a:p>
            <a:pPr lvl="0" indent="-342900" marL="342900">
              <a:buAutoNum type="arabicPeriod"/>
            </a:pPr>
            <a:r>
              <a:rPr/>
              <a:t>Continuous monitoring &amp; rollback — </a:t>
            </a:r>
            <a:r>
              <a:rPr>
                <a:hlinkClick r:id="rId8"/>
              </a:rPr>
              <a:t>Hidden Technical Debt in ML (Sculley et al.)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Label-Flip Poisoning Attack on Malware Detection</dc:title>
  <dc:creator/>
  <cp:keywords/>
  <dcterms:created xsi:type="dcterms:W3CDTF">2025-11-13T14:28:23Z</dcterms:created>
  <dcterms:modified xsi:type="dcterms:W3CDTF">2025-11-13T14:28:23Z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</Properties>
</file>