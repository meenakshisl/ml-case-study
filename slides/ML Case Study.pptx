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9657932d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9657932d2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9657932d2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99657932d2_2_8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9657932d2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9657932d2_2_9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9657932d2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99657932d2_2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9657932d2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9657932d2_2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9657932d2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99657932d2_2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9657932d2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9657932d2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9657932d2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9657932d2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maybe different due to the small amount of dataset used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9657932d2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9657932d2_2_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9657932d2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9657932d2_2_1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457201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14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 sz="2100"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3pPr>
            <a:lvl4pPr indent="-32385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5pPr>
            <a:lvl6pPr indent="-32385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/>
            </a:lvl6pPr>
            <a:lvl7pPr indent="-32385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/>
            </a:lvl8pPr>
            <a:lvl9pPr indent="-32385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Char char="■"/>
              <a:defRPr sz="1500"/>
            </a:lvl9pPr>
          </a:lstStyle>
          <a:p/>
        </p:txBody>
      </p:sp>
      <p:sp>
        <p:nvSpPr>
          <p:cNvPr id="139" name="Google Shape;139;p14"/>
          <p:cNvSpPr txBox="1"/>
          <p:nvPr>
            <p:ph idx="2" type="body"/>
          </p:nvPr>
        </p:nvSpPr>
        <p:spPr>
          <a:xfrm>
            <a:off x="457201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40" name="Google Shape;140;p1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arxiv.org/pdf/2301.01044" TargetMode="External"/><Relationship Id="rId4" Type="http://schemas.openxmlformats.org/officeDocument/2006/relationships/hyperlink" Target="https://www.kaggle.com/competitions/malware-detection/dat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meenakshisl/ML-case-stud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rxiv.org/abs/1803.09010" TargetMode="External"/><Relationship Id="rId4" Type="http://schemas.openxmlformats.org/officeDocument/2006/relationships/hyperlink" Target="https://arxiv.org/abs/1911.00068" TargetMode="External"/><Relationship Id="rId9" Type="http://schemas.openxmlformats.org/officeDocument/2006/relationships/hyperlink" Target="https://arxiv.org/abs/1609.03731" TargetMode="External"/><Relationship Id="rId5" Type="http://schemas.openxmlformats.org/officeDocument/2006/relationships/hyperlink" Target="https://arxiv.org/abs/1703.04730" TargetMode="External"/><Relationship Id="rId6" Type="http://schemas.openxmlformats.org/officeDocument/2006/relationships/hyperlink" Target="https://arxiv.org/abs/1805.07836" TargetMode="External"/><Relationship Id="rId7" Type="http://schemas.openxmlformats.org/officeDocument/2006/relationships/hyperlink" Target="https://arxiv.org/abs/1706.03691" TargetMode="External"/><Relationship Id="rId8" Type="http://schemas.openxmlformats.org/officeDocument/2006/relationships/hyperlink" Target="https://arxiv.org/abs/1804.0687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ctrTitle"/>
          </p:nvPr>
        </p:nvSpPr>
        <p:spPr>
          <a:xfrm>
            <a:off x="3537150" y="702100"/>
            <a:ext cx="50175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2500"/>
              <a:buFont typeface="Calibri"/>
              <a:buNone/>
            </a:pPr>
            <a:r>
              <a:rPr lang="en"/>
              <a:t>Label-Flip Poisoning Attack on Malware Detection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94675" y="3983850"/>
            <a:ext cx="61689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Paper: </a:t>
            </a: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http://arxiv.org/pdf/2301.01044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900" lvl="0" marL="3429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ato"/>
              <a:buChar char="●"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Dataset: </a:t>
            </a: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https://www.kaggle.com/competitions/malware-detection/data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5588550" y="2753200"/>
            <a:ext cx="2966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Meenakshi S L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2025EMCY10024</a:t>
            </a:r>
            <a:endParaRPr i="1"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7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0"/>
              <a:buChar char="❏"/>
            </a:pPr>
            <a:r>
              <a:rPr lang="en" sz="1310"/>
              <a:t>Why ML for malware detection:</a:t>
            </a:r>
            <a:endParaRPr sz="131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Scale: billions of samples → manual triage infeasible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Generalization: beyond signatures and static rules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Adaptivity: retrain as threats evolve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ML has proven to solve the zero-day malware detection </a:t>
            </a:r>
            <a:endParaRPr sz="117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70"/>
              <a:t>which is unresolved by traditional signature-based approaches.</a:t>
            </a:r>
            <a:endParaRPr sz="1170"/>
          </a:p>
          <a:p>
            <a:pPr indent="-3117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0"/>
              <a:buChar char="❏"/>
            </a:pPr>
            <a:r>
              <a:rPr lang="en" sz="1310"/>
              <a:t>Feature sources:</a:t>
            </a:r>
            <a:endParaRPr sz="131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Static (PE headers, imports, byte/strings)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Dynamic (behavior/API traces, network I/O)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Hybrid/metadata (reputation, sandbox outcomes)</a:t>
            </a:r>
            <a:endParaRPr sz="1170"/>
          </a:p>
          <a:p>
            <a:pPr indent="-31178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10"/>
              <a:buChar char="❏"/>
            </a:pPr>
            <a:r>
              <a:rPr lang="en" sz="1310"/>
              <a:t>Models in practice/research:</a:t>
            </a:r>
            <a:endParaRPr sz="131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Linear/logistic, SVMs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Trees/ensembles (Random Forest, boosting)</a:t>
            </a:r>
            <a:endParaRPr sz="1170"/>
          </a:p>
          <a:p>
            <a:pPr indent="-302894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70"/>
              <a:buChar char="❏"/>
            </a:pPr>
            <a:r>
              <a:rPr lang="en" sz="1170"/>
              <a:t>k‑NN, MLPs, deeper architectures</a:t>
            </a:r>
            <a:endParaRPr sz="1170"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125" y="1200150"/>
            <a:ext cx="2943670" cy="3394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Problem Definition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457200" y="1200150"/>
            <a:ext cx="50493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147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84615"/>
              <a:buChar char="❏"/>
            </a:pPr>
            <a:r>
              <a:rPr b="1" lang="en"/>
              <a:t>Objective</a:t>
            </a:r>
            <a:r>
              <a:rPr lang="en"/>
              <a:t> : P</a:t>
            </a:r>
            <a:r>
              <a:rPr lang="en"/>
              <a:t>erform a comparative analysis of different machine learning-based malware detectors’ robustness against label-flipping data poisoning attack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84615"/>
              <a:buChar char="❏"/>
            </a:pPr>
            <a:r>
              <a:rPr b="1" lang="en"/>
              <a:t>Threat Model</a:t>
            </a:r>
            <a:r>
              <a:rPr lang="en"/>
              <a:t>: flip y for a fraction of training samples (10–20%); clean t</a:t>
            </a:r>
            <a:r>
              <a:rPr lang="en"/>
              <a:t>e</a:t>
            </a:r>
            <a:r>
              <a:rPr lang="en"/>
              <a:t>st set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84615"/>
              <a:buChar char="❏"/>
            </a:pPr>
            <a:r>
              <a:rPr lang="en"/>
              <a:t>Why this Paper:</a:t>
            </a:r>
            <a:endParaRPr/>
          </a:p>
          <a:p>
            <a:pPr indent="-332898" lvl="1" marL="68580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ct val="190909"/>
              <a:buChar char="❏"/>
            </a:pPr>
            <a:r>
              <a:rPr lang="en"/>
              <a:t>Realistic: weak/automated labeling pipelines introduce noise</a:t>
            </a:r>
            <a:endParaRPr/>
          </a:p>
          <a:p>
            <a:pPr indent="-332898" lvl="1" marL="68580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ct val="190909"/>
              <a:buChar char="❏"/>
            </a:pPr>
            <a:r>
              <a:rPr lang="en"/>
              <a:t>Comparative: 8 classic models → family‑specific brittleness</a:t>
            </a:r>
            <a:endParaRPr/>
          </a:p>
          <a:p>
            <a:pPr indent="-332898" lvl="1" marL="68580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ct val="190909"/>
              <a:buChar char="❏"/>
            </a:pPr>
            <a:r>
              <a:rPr lang="en"/>
              <a:t>P</a:t>
            </a:r>
            <a:r>
              <a:rPr lang="en"/>
              <a:t>rovide threat modeling for adversarial poisoning attacks against malware detectors</a:t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184615"/>
              <a:buChar char="❏"/>
            </a:pPr>
            <a:r>
              <a:rPr lang="en"/>
              <a:t>Focuses on performance on models against data poisoning attacks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6500" y="1493817"/>
            <a:ext cx="3332701" cy="21558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Methodology (paper)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Dataset: VT/VirusShare‑style binary labels (paper’s corpus)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Models (8):LogisticRegression, KNN, </a:t>
            </a:r>
            <a:r>
              <a:rPr lang="en"/>
              <a:t>Linear SVM</a:t>
            </a:r>
            <a:r>
              <a:rPr lang="en"/>
              <a:t>, Decision Tree, Perceptron, MLP, </a:t>
            </a:r>
            <a:r>
              <a:rPr lang="en"/>
              <a:t> SGD, RandomForest,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Protocol:</a:t>
            </a:r>
            <a:endParaRPr/>
          </a:p>
          <a:p>
            <a:pPr indent="-342900" lvl="1" marL="68580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Char char="❏"/>
            </a:pPr>
            <a:r>
              <a:rPr lang="en"/>
              <a:t>Stratified train/test: identical split for clean vs. poisoned</a:t>
            </a:r>
            <a:endParaRPr/>
          </a:p>
          <a:p>
            <a:pPr indent="-342900" lvl="1" marL="685800" rtl="0" algn="l">
              <a:spcBef>
                <a:spcPts val="420"/>
              </a:spcBef>
              <a:spcAft>
                <a:spcPts val="0"/>
              </a:spcAft>
              <a:buClr>
                <a:schemeClr val="lt1"/>
              </a:buClr>
              <a:buSzPts val="2100"/>
              <a:buChar char="❏"/>
            </a:pPr>
            <a:r>
              <a:rPr lang="en"/>
              <a:t>Poisoning: random label flips at 10% and 20% of training labels</a:t>
            </a:r>
            <a:endParaRPr/>
          </a:p>
          <a:p>
            <a:pPr indent="-342900" lvl="1" marL="685800" rtl="0" algn="l">
              <a:spcBef>
                <a:spcPts val="420"/>
              </a:spcBef>
              <a:spcAft>
                <a:spcPts val="1200"/>
              </a:spcAft>
              <a:buClr>
                <a:schemeClr val="lt1"/>
              </a:buClr>
              <a:buSzPts val="2100"/>
              <a:buChar char="❏"/>
            </a:pPr>
            <a:r>
              <a:rPr lang="en"/>
              <a:t>Metrics: Accuracy, Precision, Recall; confusion analyses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Methodology (my implementation)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84615"/>
              <a:buChar char="❏"/>
            </a:pPr>
            <a:r>
              <a:rPr lang="en"/>
              <a:t>Data: 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ML-case-study/Kaggle-data.csv</a:t>
            </a:r>
            <a:r>
              <a:rPr lang="en"/>
              <a:t> (label: 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legitimate</a:t>
            </a:r>
            <a:r>
              <a:rPr lang="en"/>
              <a:t>)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84615"/>
              <a:buChar char="❏"/>
            </a:pPr>
            <a:r>
              <a:rPr lang="en"/>
              <a:t>Split: stratified 80/20, seed=42; sample ≈10k rows for runtime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84615"/>
              <a:buChar char="❏"/>
            </a:pPr>
            <a:r>
              <a:rPr lang="en"/>
              <a:t>Models: same 8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84615"/>
              <a:buChar char="❏"/>
            </a:pPr>
            <a:r>
              <a:rPr lang="en"/>
              <a:t>Repo: </a:t>
            </a:r>
            <a:r>
              <a:rPr lang="en" u="sng">
                <a:hlinkClick r:id="rId3"/>
              </a:rPr>
              <a:t>https://github.com/meenakshisl/ML-case-study</a:t>
            </a:r>
            <a:endParaRPr/>
          </a:p>
          <a:p>
            <a:pPr indent="-32004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ct val="184615"/>
              <a:buChar char="❏"/>
            </a:pPr>
            <a:r>
              <a:rPr lang="en"/>
              <a:t>Command: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dk1"/>
              </a:buClr>
              <a:buSzPct val="184615"/>
              <a:buNone/>
            </a:pPr>
            <a:r>
              <a:rPr lang="en">
                <a:latin typeface="Courier"/>
                <a:ea typeface="Courier"/>
                <a:cs typeface="Courier"/>
                <a:sym typeface="Courier"/>
              </a:rPr>
              <a:t>python ML-case-study/run_experiments.py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--input-csv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ML-case-study/Kaggle-data.csv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--label-col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legitimate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--sample-size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10000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--test-size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0.2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--flip-fracs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0.0 0.1 0.2 0.3 0.4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--seed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42 </a:t>
            </a:r>
            <a:r>
              <a:rPr lang="en">
                <a:solidFill>
                  <a:srgbClr val="902000"/>
                </a:solidFill>
                <a:latin typeface="Courier"/>
                <a:ea typeface="Courier"/>
                <a:cs typeface="Courier"/>
                <a:sym typeface="Courier"/>
              </a:rPr>
              <a:t>\</a:t>
            </a:r>
            <a:b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lang="en">
                <a:solidFill>
                  <a:srgbClr val="7D9029"/>
                </a:solidFill>
                <a:latin typeface="Courier"/>
                <a:ea typeface="Courier"/>
                <a:cs typeface="Courier"/>
                <a:sym typeface="Courier"/>
              </a:rPr>
              <a:t>--output-dir</a:t>
            </a:r>
            <a:r>
              <a:rPr lang="en">
                <a:latin typeface="Courier"/>
                <a:ea typeface="Courier"/>
                <a:cs typeface="Courier"/>
                <a:sym typeface="Courier"/>
              </a:rPr>
              <a:t> ML-case-study/outputs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Results (paper)</a:t>
            </a:r>
            <a:endParaRPr/>
          </a:p>
        </p:txBody>
      </p:sp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Trends supported by paper visuals: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Recall suffers most → more false negatives (missed malware)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Linear/SVM degrade sharply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 Trees are more resilient at low flip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Patterns persist across settings/seeds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t/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275" y="1200150"/>
            <a:ext cx="3542126" cy="3008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Results (paper)</a:t>
            </a:r>
            <a:endParaRPr/>
          </a:p>
        </p:txBody>
      </p:sp>
      <p:pic>
        <p:nvPicPr>
          <p:cNvPr id="188" name="Google Shape;18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25" y="1239600"/>
            <a:ext cx="4291499" cy="141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3900" y="2828125"/>
            <a:ext cx="4782349" cy="15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(local)</a:t>
            </a:r>
            <a:endParaRPr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457200" y="1063375"/>
            <a:ext cx="8229600" cy="334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Alignment: recall drops; linear models brittle; RF relatively robust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1200"/>
              </a:spcAft>
              <a:buSzPts val="2400"/>
              <a:buChar char="●"/>
            </a:pPr>
            <a:r>
              <a:rPr lang="en"/>
              <a:t>Local vs Paper: dataset/feature domain, sample size/runtime, preprocessing/regularization, single split/seed</a:t>
            </a:r>
            <a:endParaRPr/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7750" y="2171900"/>
            <a:ext cx="5948175" cy="27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2" name="Google Shape;202;p2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Label‑flip poisoning degrades malware detectors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 impact varies by model family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Linear/SVM degrade most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Trees are relatively resilient at lower flip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MLP mixed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❏"/>
            </a:pPr>
            <a:r>
              <a:rPr lang="en"/>
              <a:t>Takeaway: label integrity and data‑quality gates are essential in production pipelines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/>
              <a:t>Future Work (defenses)</a:t>
            </a:r>
            <a:endParaRPr/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Data provenance &amp; trusted labeling — </a:t>
            </a:r>
            <a:r>
              <a:rPr lang="en" u="sng">
                <a:hlinkClick r:id="rId3"/>
              </a:rPr>
              <a:t>Datasheets for Datasets (Gebru et al.)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Label sanitization / outlier detection — </a:t>
            </a:r>
            <a:r>
              <a:rPr lang="en" u="sng">
                <a:hlinkClick r:id="rId4"/>
              </a:rPr>
              <a:t>Confident Learning / Cleanlab (Northcutt et al.)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Influence‑based auditing — </a:t>
            </a:r>
            <a:r>
              <a:rPr lang="en" u="sng">
                <a:hlinkClick r:id="rId5"/>
              </a:rPr>
              <a:t>Influence Functions (Koh &amp; Liang)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Robust learning objectives — </a:t>
            </a:r>
            <a:r>
              <a:rPr lang="en" u="sng">
                <a:hlinkClick r:id="rId6"/>
              </a:rPr>
              <a:t>Generalized Cross‑Entropy (Zhang &amp; Sabuncu)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Adversarial / poison‑aware training — </a:t>
            </a:r>
            <a:r>
              <a:rPr lang="en" u="sng">
                <a:hlinkClick r:id="rId7"/>
              </a:rPr>
              <a:t>Certified Defenses for Data Poisoning (Steinhardt et al.)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Ensemble &amp; cross‑validation across sources — </a:t>
            </a:r>
            <a:r>
              <a:rPr lang="en" u="sng">
                <a:hlinkClick r:id="rId8"/>
              </a:rPr>
              <a:t>Co‑Teaching (Han et al.)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1200"/>
              </a:spcAft>
              <a:buClr>
                <a:schemeClr val="lt1"/>
              </a:buClr>
              <a:buSzPts val="2400"/>
              <a:buChar char="❏"/>
            </a:pPr>
            <a:r>
              <a:rPr lang="en"/>
              <a:t>Continuous monitoring &amp; rollback — </a:t>
            </a:r>
            <a:r>
              <a:rPr lang="en" u="sng">
                <a:hlinkClick r:id="rId9"/>
              </a:rPr>
              <a:t>Hidden Technical Debt in ML (Sculley et al.)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